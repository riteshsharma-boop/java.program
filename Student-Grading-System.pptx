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81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Calibri Light" panose="020F0302020204030204" pitchFamily="34" charset="0"/>
      <p:regular r:id="rId13"/>
      <p:italic r:id="rId14"/>
    </p:embeddedFont>
    <p:embeddedFont>
      <p:font typeface="Platypi Medium" pitchFamily="2" charset="77"/>
      <p:regular r:id="rId15"/>
    </p:embeddedFont>
    <p:embeddedFont>
      <p:font typeface="Source Serif 4" panose="02040603050405020204" pitchFamily="18" charset="0"/>
      <p:regular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90"/>
    <p:restoredTop sz="94610"/>
  </p:normalViewPr>
  <p:slideViewPr>
    <p:cSldViewPr snapToGrid="0" snapToObjects="1">
      <p:cViewPr varScale="1">
        <p:scale>
          <a:sx n="175" d="100"/>
          <a:sy n="175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5513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753C-6504-174C-ADC1-5243DC98F70C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B797C-C060-4641-964D-53795358D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4249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753C-6504-174C-ADC1-5243DC98F70C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B797C-C060-4641-964D-53795358D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37427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753C-6504-174C-ADC1-5243DC98F70C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B797C-C060-4641-964D-53795358D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43413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753C-6504-174C-ADC1-5243DC98F70C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B797C-C060-4641-964D-53795358D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87990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753C-6504-174C-ADC1-5243DC98F70C}" type="datetimeFigureOut">
              <a:rPr lang="en-US" smtClean="0"/>
              <a:t>6/10/26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B797C-C060-4641-964D-53795358D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29252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753C-6504-174C-ADC1-5243DC98F70C}" type="datetimeFigureOut">
              <a:rPr lang="en-US" smtClean="0"/>
              <a:t>6/10/26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B797C-C060-4641-964D-53795358D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58699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753C-6504-174C-ADC1-5243DC98F70C}" type="datetimeFigureOut">
              <a:rPr lang="en-US" smtClean="0"/>
              <a:t>6/10/26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B797C-C060-4641-964D-53795358D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22196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753C-6504-174C-ADC1-5243DC98F70C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B797C-C060-4641-964D-53795358D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96153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753C-6504-174C-ADC1-5243DC98F70C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B797C-C060-4641-964D-53795358D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42672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753C-6504-174C-ADC1-5243DC98F70C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B797C-C060-4641-964D-53795358D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07802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753C-6504-174C-ADC1-5243DC98F70C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B797C-C060-4641-964D-53795358D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23715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35574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776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80753C-6504-174C-ADC1-5243DC98F70C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EB797C-C060-4641-964D-53795358D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98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4" r:id="rId6"/>
    <p:sldLayoutId id="2147483825" r:id="rId7"/>
    <p:sldLayoutId id="2147483826" r:id="rId8"/>
    <p:sldLayoutId id="2147483827" r:id="rId9"/>
    <p:sldLayoutId id="2147483828" r:id="rId10"/>
    <p:sldLayoutId id="2147483829" r:id="rId11"/>
    <p:sldLayoutId id="2147483830" r:id="rId12"/>
    <p:sldLayoutId id="2147483831" r:id="rId13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64655"/>
            <a:ext cx="471666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Student Grading System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264346"/>
            <a:ext cx="365626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Vineet Vidyarthi — ERP: RU-25-11679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925119" y="2698403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A concise Java-based application that automates grade calculation, CGPA assignment and student record management. Designed for faculty and administrative use — fast, auditable and easy to operate.</a:t>
            </a:r>
            <a:endParaRPr lang="en-US" sz="11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59087C-222D-1743-AE6C-A225D770132C}"/>
              </a:ext>
            </a:extLst>
          </p:cNvPr>
          <p:cNvSpPr/>
          <p:nvPr/>
        </p:nvSpPr>
        <p:spPr>
          <a:xfrm>
            <a:off x="8070574" y="4797287"/>
            <a:ext cx="1020417" cy="34621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326306-D596-9540-95A8-A5961A5B1C4D}"/>
              </a:ext>
            </a:extLst>
          </p:cNvPr>
          <p:cNvSpPr/>
          <p:nvPr/>
        </p:nvSpPr>
        <p:spPr>
          <a:xfrm>
            <a:off x="7864535" y="3782556"/>
            <a:ext cx="1226456" cy="40923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1901" y="375568"/>
            <a:ext cx="4769197" cy="675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Introduction: Why this project matters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3901901" y="1244426"/>
            <a:ext cx="2320230" cy="1402928"/>
          </a:xfrm>
          <a:prstGeom prst="roundRect">
            <a:avLst>
              <a:gd name="adj" fmla="val 1445"/>
            </a:avLst>
          </a:prstGeom>
          <a:solidFill>
            <a:srgbClr val="F9F7F7"/>
          </a:solidFill>
          <a:ln/>
        </p:spPr>
      </p:sp>
      <p:sp>
        <p:nvSpPr>
          <p:cNvPr id="5" name="Text 2"/>
          <p:cNvSpPr/>
          <p:nvPr/>
        </p:nvSpPr>
        <p:spPr>
          <a:xfrm>
            <a:off x="4036963" y="1379488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Efficiency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036963" y="1667842"/>
            <a:ext cx="2050107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Automates repetitive tasks: grade calculation, report generation and record retrieval.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350868" y="1244426"/>
            <a:ext cx="2320230" cy="1402928"/>
          </a:xfrm>
          <a:prstGeom prst="roundRect">
            <a:avLst>
              <a:gd name="adj" fmla="val 1445"/>
            </a:avLst>
          </a:prstGeom>
          <a:solidFill>
            <a:srgbClr val="F9F7F7"/>
          </a:solidFill>
          <a:ln/>
        </p:spPr>
      </p:sp>
      <p:sp>
        <p:nvSpPr>
          <p:cNvPr id="8" name="Text 5"/>
          <p:cNvSpPr/>
          <p:nvPr/>
        </p:nvSpPr>
        <p:spPr>
          <a:xfrm>
            <a:off x="6485930" y="1379488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Accuracy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85930" y="1667842"/>
            <a:ext cx="2050107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Consistent CGPA computation and deterministic grading logic reduce errors from manual calculation.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901901" y="2776091"/>
            <a:ext cx="4769197" cy="980703"/>
          </a:xfrm>
          <a:prstGeom prst="roundRect">
            <a:avLst>
              <a:gd name="adj" fmla="val 2067"/>
            </a:avLst>
          </a:prstGeom>
          <a:solidFill>
            <a:srgbClr val="F9F7F7"/>
          </a:solidFill>
          <a:ln/>
        </p:spPr>
      </p:sp>
      <p:sp>
        <p:nvSpPr>
          <p:cNvPr id="11" name="Text 8"/>
          <p:cNvSpPr/>
          <p:nvPr/>
        </p:nvSpPr>
        <p:spPr>
          <a:xfrm>
            <a:off x="4036963" y="2911153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Usability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036963" y="3199507"/>
            <a:ext cx="4499074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Menu-driven interface that faculty can use without technical knowledge.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901901" y="3901678"/>
            <a:ext cx="4769197" cy="721370"/>
          </a:xfrm>
          <a:prstGeom prst="roundRect">
            <a:avLst>
              <a:gd name="adj" fmla="val 2810"/>
            </a:avLst>
          </a:prstGeom>
          <a:solidFill>
            <a:srgbClr val="EDD5C4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6963" y="4090318"/>
            <a:ext cx="168846" cy="13506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40870" y="4051250"/>
            <a:ext cx="419516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Theme accents: primary emphasis color #3E2513 with soft background #F3E3D8 to match institutional branding.</a:t>
            </a:r>
            <a:endParaRPr lang="en-US" sz="10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06BBBD-DAA1-BC43-B04B-65577B5BCE3F}"/>
              </a:ext>
            </a:extLst>
          </p:cNvPr>
          <p:cNvSpPr/>
          <p:nvPr/>
        </p:nvSpPr>
        <p:spPr>
          <a:xfrm>
            <a:off x="8025828" y="4850296"/>
            <a:ext cx="1118172" cy="22528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2F81460-C9F2-6C47-A7C0-E1A3BC6F6BB7}"/>
              </a:ext>
            </a:extLst>
          </p:cNvPr>
          <p:cNvSpPr/>
          <p:nvPr/>
        </p:nvSpPr>
        <p:spPr>
          <a:xfrm>
            <a:off x="7871791" y="4777408"/>
            <a:ext cx="1272209" cy="36609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8C8BF37-A8E8-A74B-B07D-AFEADD771D80}"/>
              </a:ext>
            </a:extLst>
          </p:cNvPr>
          <p:cNvSpPr/>
          <p:nvPr/>
        </p:nvSpPr>
        <p:spPr>
          <a:xfrm>
            <a:off x="7842190" y="4770781"/>
            <a:ext cx="1301810" cy="37934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28563"/>
            <a:ext cx="3635499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Working of the Project</a:t>
            </a:r>
            <a:endParaRPr lang="en-US" sz="22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1095524"/>
            <a:ext cx="4722763" cy="177217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312044" y="2368874"/>
            <a:ext cx="712323" cy="27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Sorted Results</a:t>
            </a:r>
            <a:endParaRPr lang="en-US" sz="850" dirty="0"/>
          </a:p>
        </p:txBody>
      </p:sp>
      <p:sp>
        <p:nvSpPr>
          <p:cNvPr id="6" name="Text 2"/>
          <p:cNvSpPr/>
          <p:nvPr/>
        </p:nvSpPr>
        <p:spPr>
          <a:xfrm>
            <a:off x="3414322" y="2368874"/>
            <a:ext cx="712323" cy="27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Binary Search</a:t>
            </a: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2521479" y="2368874"/>
            <a:ext cx="712323" cy="27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Compute CGPA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1628635" y="2368874"/>
            <a:ext cx="712323" cy="27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Store Records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716276" y="2437484"/>
            <a:ext cx="712323" cy="137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Input Marks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496119" y="3027164"/>
            <a:ext cx="4722763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Key components: - Data storage: structured records hold student details and subject marks. - Calculation: CGPA computed from subject scores using weighted averages; grading rules applied to assign letter/grade points. - Algorithms: Binary Search for quick lookup on sorted IDs; Bubble Sort to order small-to-moderate record sets for display. - Interface: Menu-driven console allowing add/update/search/sort and results display.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5219" y="354806"/>
            <a:ext cx="4572298" cy="298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Screenshots &amp; Visual Walkthrough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445219" y="855613"/>
            <a:ext cx="8253487" cy="2205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3000"/>
              </a:lnSpc>
              <a:spcAft>
                <a:spcPts val="2250"/>
              </a:spcAft>
              <a:buNone/>
            </a:pPr>
            <a:endParaRPr lang="en-US" sz="900" dirty="0"/>
          </a:p>
          <a:p>
            <a:pPr marL="0" indent="0" algn="l">
              <a:lnSpc>
                <a:spcPct val="123000"/>
              </a:lnSpc>
              <a:spcAft>
                <a:spcPts val="2250"/>
              </a:spcAft>
              <a:buNone/>
            </a:pPr>
            <a:endParaRPr lang="en-US" sz="900" dirty="0"/>
          </a:p>
          <a:p>
            <a:pPr marL="0" indent="0" algn="l">
              <a:lnSpc>
                <a:spcPct val="123000"/>
              </a:lnSpc>
              <a:spcAft>
                <a:spcPts val="2250"/>
              </a:spcAft>
              <a:buNone/>
            </a:pPr>
            <a:endParaRPr lang="en-US" sz="900" dirty="0"/>
          </a:p>
          <a:p>
            <a:pPr marL="0" indent="0" algn="l">
              <a:lnSpc>
                <a:spcPct val="123000"/>
              </a:lnSpc>
              <a:spcAft>
                <a:spcPts val="2250"/>
              </a:spcAft>
              <a:buNone/>
            </a:pPr>
            <a:endParaRPr lang="en-US" sz="900" dirty="0"/>
          </a:p>
          <a:p>
            <a:pPr marL="0" indent="0" algn="l">
              <a:lnSpc>
                <a:spcPct val="123000"/>
              </a:lnSpc>
              <a:spcAft>
                <a:spcPts val="2250"/>
              </a:spcAft>
              <a:buNone/>
            </a:pPr>
            <a:endParaRPr lang="en-US" sz="900" dirty="0"/>
          </a:p>
          <a:p>
            <a:pPr marL="0" indent="0" algn="l">
              <a:lnSpc>
                <a:spcPct val="123000"/>
              </a:lnSpc>
              <a:spcAft>
                <a:spcPts val="2250"/>
              </a:spcAft>
              <a:buNone/>
            </a:pPr>
            <a:endParaRPr lang="en-US" sz="900" dirty="0"/>
          </a:p>
          <a:p>
            <a:pPr marL="0" indent="0" algn="l">
              <a:lnSpc>
                <a:spcPct val="123000"/>
              </a:lnSpc>
              <a:spcAft>
                <a:spcPts val="2250"/>
              </a:spcAft>
              <a:buNone/>
            </a:pP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219" y="3174355"/>
            <a:ext cx="866254" cy="5353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45219" y="3835822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Student Lookup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45219" y="4083174"/>
            <a:ext cx="1968773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Fast binary search returns the exact student record when IDs are kept sorted.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124" y="3174355"/>
            <a:ext cx="866254" cy="5353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540124" y="3835822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Main Menu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2540124" y="4083174"/>
            <a:ext cx="1968773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Clear, numbered options let users perform core tasks quickly.</a:t>
            </a:r>
            <a:endParaRPr lang="en-US" sz="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5029" y="3174355"/>
            <a:ext cx="866254" cy="53533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635029" y="3835822"/>
            <a:ext cx="1553096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Grade / CGPA Output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4635029" y="4083174"/>
            <a:ext cx="1968773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Displays computed CGPA, grade point and corresponding letter grade for verification and printing.</a:t>
            </a:r>
            <a:endParaRPr lang="en-US" sz="9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9933" y="3174355"/>
            <a:ext cx="866254" cy="53533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729933" y="3835822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Sorting View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6729933" y="4083174"/>
            <a:ext cx="196877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Bubble Sort v</a:t>
            </a:r>
            <a:endParaRPr lang="en-US" sz="9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2A58159-143E-0A4F-B3B3-82787F56F8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1425" y="707603"/>
            <a:ext cx="7639879" cy="2280762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ED3BB0EC-9C2E-674D-8636-C2EA323EA905}"/>
              </a:ext>
            </a:extLst>
          </p:cNvPr>
          <p:cNvSpPr/>
          <p:nvPr/>
        </p:nvSpPr>
        <p:spPr>
          <a:xfrm>
            <a:off x="7830457" y="4695371"/>
            <a:ext cx="1313543" cy="448129"/>
          </a:xfrm>
          <a:prstGeom prst="rect">
            <a:avLst/>
          </a:prstGeom>
          <a:ln>
            <a:solidFill>
              <a:srgbClr val="FFFF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8379" y="428476"/>
            <a:ext cx="4135710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Conclusion &amp; Future Scope</a:t>
            </a:r>
            <a:endParaRPr lang="en-US" sz="2150" dirty="0"/>
          </a:p>
        </p:txBody>
      </p:sp>
      <p:sp>
        <p:nvSpPr>
          <p:cNvPr id="4" name="Text 1"/>
          <p:cNvSpPr/>
          <p:nvPr/>
        </p:nvSpPr>
        <p:spPr>
          <a:xfrm>
            <a:off x="488379" y="1120750"/>
            <a:ext cx="214826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Conclusion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88379" y="1476152"/>
            <a:ext cx="1691060" cy="1993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        The system replaces manual grade calculations by providing reliable CGPA         computation, consistent grading and fast record retrieval—improving         administrative efficiency and accuracy.       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2524571" y="1120750"/>
            <a:ext cx="22015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Future scope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2524571" y="1476152"/>
            <a:ext cx="2706737" cy="258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Persistent storage: integrate a relational database for scalability and backups.</a:t>
            </a:r>
            <a:endParaRPr lang="en-US" sz="1050" dirty="0"/>
          </a:p>
          <a:p>
            <a:pPr marL="342900" indent="-342900" algn="l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Improved UI: migrate from console to a GUI or web front-end for ease of use.</a:t>
            </a:r>
            <a:endParaRPr lang="en-US" sz="1050" dirty="0"/>
          </a:p>
          <a:p>
            <a:pPr marL="342900" indent="-342900" algn="l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Robustness: add input validation, exception handling and audit logs.</a:t>
            </a:r>
            <a:endParaRPr lang="en-US" sz="1050" dirty="0"/>
          </a:p>
          <a:p>
            <a:pPr marL="342900" indent="-342900" algn="l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Advanced features: import/export CSV, role-based access, analytics dashboards.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88379" y="4293766"/>
            <a:ext cx="4738241" cy="10418"/>
          </a:xfrm>
          <a:prstGeom prst="rect">
            <a:avLst/>
          </a:prstGeom>
          <a:solidFill>
            <a:srgbClr val="504C49">
              <a:alpha val="5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259779" y="4493493"/>
            <a:ext cx="519544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71304" y="2130549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Thank You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267519" y="2786137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We appreciate your time and attention to this presentation.</a:t>
            </a:r>
            <a:endParaRPr lang="en-US" sz="11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AA1D1F-F269-BA44-A713-C93B16564149}"/>
              </a:ext>
            </a:extLst>
          </p:cNvPr>
          <p:cNvSpPr/>
          <p:nvPr/>
        </p:nvSpPr>
        <p:spPr>
          <a:xfrm>
            <a:off x="8030816" y="4764156"/>
            <a:ext cx="1113183" cy="37934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</TotalTime>
  <Words>361</Words>
  <Application>Microsoft Macintosh PowerPoint</Application>
  <PresentationFormat>On-screen Show (16:9)</PresentationFormat>
  <Paragraphs>49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Calibri</vt:lpstr>
      <vt:lpstr>Source Serif 4</vt:lpstr>
      <vt:lpstr>Arial</vt:lpstr>
      <vt:lpstr>Platypi Medium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Raj kumar</cp:lastModifiedBy>
  <cp:revision>4</cp:revision>
  <cp:lastPrinted>2026-06-10T02:03:08Z</cp:lastPrinted>
  <dcterms:created xsi:type="dcterms:W3CDTF">2026-06-10T01:56:21Z</dcterms:created>
  <dcterms:modified xsi:type="dcterms:W3CDTF">2026-06-10T03:14:33Z</dcterms:modified>
</cp:coreProperties>
</file>